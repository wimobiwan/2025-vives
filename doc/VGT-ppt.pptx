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3" r:id="rId9"/>
    <p:sldId id="284" r:id="rId10"/>
    <p:sldId id="28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9" r:id="rId19"/>
    <p:sldId id="277" r:id="rId20"/>
    <p:sldId id="278" r:id="rId21"/>
    <p:sldId id="280" r:id="rId22"/>
    <p:sldId id="281" r:id="rId23"/>
    <p:sldId id="275" r:id="rId24"/>
    <p:sldId id="286" r:id="rId25"/>
    <p:sldId id="276" r:id="rId26"/>
    <p:sldId id="287" r:id="rId27"/>
    <p:sldId id="288" r:id="rId28"/>
    <p:sldId id="289" r:id="rId29"/>
    <p:sldId id="292" r:id="rId30"/>
    <p:sldId id="29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021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621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224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561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455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582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882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197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758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395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5361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017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7878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00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0377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874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4BD12-CDA6-4382-AC99-D39B6A59C410}" type="datetimeFigureOut">
              <a:rPr lang="LID4096" smtClean="0"/>
              <a:t>06/12/2025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57B49A-6AE0-4C5B-BBE6-25F66123CE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813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822A-B797-A4FA-5216-EAF08C3D7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5736"/>
            <a:ext cx="7766936" cy="1646302"/>
          </a:xfrm>
        </p:spPr>
        <p:txBody>
          <a:bodyPr/>
          <a:lstStyle/>
          <a:p>
            <a:pPr algn="ctr"/>
            <a:r>
              <a:rPr lang="nl-BE" noProof="0" dirty="0" err="1"/>
              <a:t>Organimmo</a:t>
            </a:r>
            <a:endParaRPr lang="nl-BE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8F465-E40C-A293-8A8B-120EBA37B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468" y="3602038"/>
            <a:ext cx="9144000" cy="2022014"/>
          </a:xfrm>
        </p:spPr>
        <p:txBody>
          <a:bodyPr/>
          <a:lstStyle/>
          <a:p>
            <a:pPr algn="ctr"/>
            <a:r>
              <a:rPr lang="nl-BE" sz="2000" noProof="0" dirty="0">
                <a:solidFill>
                  <a:schemeClr val="tx1"/>
                </a:solidFill>
              </a:rPr>
              <a:t>Project Waarschuw VGT</a:t>
            </a:r>
          </a:p>
          <a:p>
            <a:pPr algn="r"/>
            <a:endParaRPr lang="nl-BE" sz="1600" noProof="0" dirty="0"/>
          </a:p>
          <a:p>
            <a:pPr algn="r"/>
            <a:r>
              <a:rPr lang="nl-BE" noProof="0" dirty="0">
                <a:solidFill>
                  <a:schemeClr val="tx1"/>
                </a:solidFill>
              </a:rPr>
              <a:t>Blondelle Iban</a:t>
            </a:r>
          </a:p>
          <a:p>
            <a:pPr algn="r"/>
            <a:r>
              <a:rPr lang="nl-BE" noProof="0" dirty="0" err="1">
                <a:solidFill>
                  <a:schemeClr val="tx1"/>
                </a:solidFill>
              </a:rPr>
              <a:t>Debacker</a:t>
            </a:r>
            <a:r>
              <a:rPr lang="nl-BE" noProof="0" dirty="0">
                <a:solidFill>
                  <a:schemeClr val="tx1"/>
                </a:solidFill>
              </a:rPr>
              <a:t> Tijl</a:t>
            </a:r>
          </a:p>
          <a:p>
            <a:pPr algn="r"/>
            <a:r>
              <a:rPr lang="nl-BE" noProof="0" dirty="0" err="1">
                <a:solidFill>
                  <a:schemeClr val="tx1"/>
                </a:solidFill>
              </a:rPr>
              <a:t>Ouaga</a:t>
            </a:r>
            <a:r>
              <a:rPr lang="nl-BE" noProof="0" dirty="0">
                <a:solidFill>
                  <a:schemeClr val="tx1"/>
                </a:solidFill>
              </a:rPr>
              <a:t> Yassine</a:t>
            </a:r>
          </a:p>
          <a:p>
            <a:pPr algn="r"/>
            <a:endParaRPr lang="nl-BE" sz="1600" noProof="0" dirty="0"/>
          </a:p>
        </p:txBody>
      </p:sp>
    </p:spTree>
    <p:extLst>
      <p:ext uri="{BB962C8B-B14F-4D97-AF65-F5344CB8AC3E}">
        <p14:creationId xmlns:p14="http://schemas.microsoft.com/office/powerpoint/2010/main" val="122497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E792-9EAC-A2D3-D96A-57B9BE05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>
                <a:solidFill>
                  <a:schemeClr val="tx1"/>
                </a:solidFill>
              </a:rPr>
              <a:t>Waarschuw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BF48F-3783-8A18-1720-1D90B099B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b="1" noProof="0" dirty="0">
                <a:solidFill>
                  <a:schemeClr val="tx1"/>
                </a:solidFill>
              </a:rPr>
              <a:t>W</a:t>
            </a:r>
            <a:r>
              <a:rPr lang="nl-BE" sz="2000" noProof="0" dirty="0">
                <a:solidFill>
                  <a:schemeClr val="tx1"/>
                </a:solidFill>
              </a:rPr>
              <a:t>ater </a:t>
            </a:r>
            <a:r>
              <a:rPr lang="nl-BE" sz="2000" b="1" noProof="0" dirty="0">
                <a:solidFill>
                  <a:schemeClr val="tx1"/>
                </a:solidFill>
              </a:rPr>
              <a:t>A</a:t>
            </a:r>
            <a:r>
              <a:rPr lang="nl-BE" sz="2000" noProof="0" dirty="0">
                <a:solidFill>
                  <a:schemeClr val="tx1"/>
                </a:solidFill>
              </a:rPr>
              <a:t>nomalie </a:t>
            </a:r>
            <a:r>
              <a:rPr lang="nl-BE" sz="2000" b="1" noProof="0" dirty="0">
                <a:solidFill>
                  <a:schemeClr val="tx1"/>
                </a:solidFill>
              </a:rPr>
              <a:t>A</a:t>
            </a:r>
            <a:r>
              <a:rPr lang="nl-BE" sz="2000" noProof="0" dirty="0">
                <a:solidFill>
                  <a:schemeClr val="tx1"/>
                </a:solidFill>
              </a:rPr>
              <a:t>larm </a:t>
            </a:r>
            <a:r>
              <a:rPr lang="nl-BE" sz="2000" b="1" noProof="0" dirty="0">
                <a:solidFill>
                  <a:schemeClr val="tx1"/>
                </a:solidFill>
              </a:rPr>
              <a:t>R</a:t>
            </a:r>
            <a:r>
              <a:rPr lang="nl-BE" sz="2000" noProof="0" dirty="0">
                <a:solidFill>
                  <a:schemeClr val="tx1"/>
                </a:solidFill>
              </a:rPr>
              <a:t>egistratie </a:t>
            </a:r>
            <a:r>
              <a:rPr lang="nl-BE" sz="2000" b="1" noProof="0" dirty="0">
                <a:solidFill>
                  <a:schemeClr val="tx1"/>
                </a:solidFill>
              </a:rPr>
              <a:t>S</a:t>
            </a:r>
            <a:r>
              <a:rPr lang="nl-BE" sz="2000" noProof="0" dirty="0">
                <a:solidFill>
                  <a:schemeClr val="tx1"/>
                </a:solidFill>
              </a:rPr>
              <a:t>ysteem voor </a:t>
            </a:r>
            <a:r>
              <a:rPr lang="nl-BE" sz="2000" b="1" noProof="0" dirty="0">
                <a:solidFill>
                  <a:schemeClr val="tx1"/>
                </a:solidFill>
              </a:rPr>
              <a:t>C</a:t>
            </a:r>
            <a:r>
              <a:rPr lang="nl-BE" sz="2000" noProof="0" dirty="0">
                <a:solidFill>
                  <a:schemeClr val="tx1"/>
                </a:solidFill>
              </a:rPr>
              <a:t>ontrole en </a:t>
            </a:r>
            <a:r>
              <a:rPr lang="nl-BE" sz="2000" b="1" noProof="0" dirty="0">
                <a:solidFill>
                  <a:schemeClr val="tx1"/>
                </a:solidFill>
              </a:rPr>
              <a:t>H</a:t>
            </a:r>
            <a:r>
              <a:rPr lang="nl-BE" sz="2000" noProof="0" dirty="0">
                <a:solidFill>
                  <a:schemeClr val="tx1"/>
                </a:solidFill>
              </a:rPr>
              <a:t>et </a:t>
            </a:r>
            <a:r>
              <a:rPr lang="nl-BE" sz="2000" b="1" noProof="0" dirty="0">
                <a:solidFill>
                  <a:schemeClr val="tx1"/>
                </a:solidFill>
              </a:rPr>
              <a:t>U</a:t>
            </a:r>
            <a:r>
              <a:rPr lang="nl-BE" sz="2000" noProof="0" dirty="0">
                <a:solidFill>
                  <a:schemeClr val="tx1"/>
                </a:solidFill>
              </a:rPr>
              <a:t>itfilteren van </a:t>
            </a:r>
            <a:r>
              <a:rPr lang="nl-BE" sz="2000" b="1" noProof="0" dirty="0">
                <a:solidFill>
                  <a:schemeClr val="tx1"/>
                </a:solidFill>
              </a:rPr>
              <a:t>W</a:t>
            </a:r>
            <a:r>
              <a:rPr lang="nl-BE" sz="2000" noProof="0" dirty="0">
                <a:solidFill>
                  <a:schemeClr val="tx1"/>
                </a:solidFill>
              </a:rPr>
              <a:t>aarden</a:t>
            </a:r>
          </a:p>
          <a:p>
            <a:endParaRPr lang="nl-BE" sz="2000" noProof="0" dirty="0"/>
          </a:p>
          <a:p>
            <a:r>
              <a:rPr lang="nl-BE" sz="2000" noProof="0" dirty="0">
                <a:solidFill>
                  <a:schemeClr val="tx1"/>
                </a:solidFill>
              </a:rPr>
              <a:t>Meten van waterstanden</a:t>
            </a:r>
          </a:p>
          <a:p>
            <a:r>
              <a:rPr lang="nl-BE" sz="2000" noProof="0" dirty="0">
                <a:solidFill>
                  <a:schemeClr val="tx1"/>
                </a:solidFill>
              </a:rPr>
              <a:t>Inzicht in o.a. waterputten en grondvochtigheid</a:t>
            </a:r>
          </a:p>
          <a:p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>
                <a:solidFill>
                  <a:schemeClr val="tx1"/>
                </a:solidFill>
              </a:rPr>
              <a:t>Hobbyproject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nl-BE" sz="2000" noProof="0" dirty="0">
                <a:solidFill>
                  <a:schemeClr val="tx1"/>
                </a:solidFill>
              </a:rPr>
              <a:t> wateralarm.be</a:t>
            </a:r>
          </a:p>
        </p:txBody>
      </p:sp>
    </p:spTree>
    <p:extLst>
      <p:ext uri="{BB962C8B-B14F-4D97-AF65-F5344CB8AC3E}">
        <p14:creationId xmlns:p14="http://schemas.microsoft.com/office/powerpoint/2010/main" val="228119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274B-FC19-7342-198A-036EFA35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nl-BE" noProof="0" dirty="0">
                <a:solidFill>
                  <a:schemeClr val="tx1"/>
                </a:solidFill>
              </a:rPr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4CA35-6AE6-8A54-B1F4-CBEF91AF4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r>
              <a:rPr lang="nl-BE" sz="1800" noProof="0" dirty="0">
                <a:solidFill>
                  <a:schemeClr val="tx1"/>
                </a:solidFill>
              </a:rPr>
              <a:t>Kleine sensoren op locatie </a:t>
            </a:r>
          </a:p>
          <a:p>
            <a:endParaRPr lang="nl-BE" sz="1800" noProof="0" dirty="0">
              <a:solidFill>
                <a:schemeClr val="tx1"/>
              </a:solidFill>
            </a:endParaRPr>
          </a:p>
          <a:p>
            <a:r>
              <a:rPr lang="nl-BE" sz="1800" noProof="0" dirty="0">
                <a:solidFill>
                  <a:schemeClr val="tx1"/>
                </a:solidFill>
              </a:rPr>
              <a:t>Gegevens naar een server en database</a:t>
            </a:r>
          </a:p>
          <a:p>
            <a:endParaRPr lang="nl-BE" sz="1800" noProof="0" dirty="0">
              <a:solidFill>
                <a:schemeClr val="tx1"/>
              </a:solidFill>
            </a:endParaRPr>
          </a:p>
          <a:p>
            <a:r>
              <a:rPr lang="nl-BE" sz="1800" noProof="0" dirty="0">
                <a:solidFill>
                  <a:schemeClr val="tx1"/>
                </a:solidFill>
              </a:rPr>
              <a:t>Gebruikt voor: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800" noProof="0" dirty="0">
                <a:solidFill>
                  <a:schemeClr val="tx1"/>
                </a:solidFill>
              </a:rPr>
              <a:t>Weergeven op de website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800" noProof="0" dirty="0">
                <a:solidFill>
                  <a:schemeClr val="tx1"/>
                </a:solidFill>
              </a:rPr>
              <a:t>Gebruikers waarschuwen voor </a:t>
            </a:r>
            <a:r>
              <a:rPr lang="nl-BE" sz="1800" noProof="0" dirty="0" err="1">
                <a:solidFill>
                  <a:schemeClr val="tx1"/>
                </a:solidFill>
              </a:rPr>
              <a:t>drempeloverschreidingen</a:t>
            </a:r>
            <a:endParaRPr lang="nl-BE" sz="1800" noProof="0" dirty="0">
              <a:solidFill>
                <a:schemeClr val="tx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800" noProof="0" dirty="0">
                <a:solidFill>
                  <a:schemeClr val="tx1"/>
                </a:solidFill>
              </a:rPr>
              <a:t>Data-analyse en onderzoek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nl-BE" sz="1800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EF1CA7-DC7E-263B-601D-48BA02C53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0" r="26861" b="2"/>
          <a:stretch>
            <a:fillRect/>
          </a:stretch>
        </p:blipFill>
        <p:spPr bwMode="auto">
          <a:xfrm>
            <a:off x="5818632" y="-1"/>
            <a:ext cx="637336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8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2AFB-BA24-AA22-6220-037F0BDC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BE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Het probleem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BB1B0-1A05-DA13-D55E-C484017A7580}"/>
              </a:ext>
            </a:extLst>
          </p:cNvPr>
          <p:cNvSpPr txBox="1"/>
          <p:nvPr/>
        </p:nvSpPr>
        <p:spPr>
          <a:xfrm>
            <a:off x="612648" y="2584058"/>
            <a:ext cx="4621553" cy="3159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 dirty="0" err="1"/>
              <a:t>Outliers</a:t>
            </a:r>
            <a:r>
              <a:rPr lang="nl-BE" noProof="0" dirty="0"/>
              <a:t> / anomalieën in de data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D743E77-91AC-2E87-C363-01538B19C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999" y="562523"/>
            <a:ext cx="7379851" cy="573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298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78FA1-8ED6-ED3F-69BB-DC657E0F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9207"/>
            <a:ext cx="5157787" cy="823912"/>
          </a:xfrm>
        </p:spPr>
        <p:txBody>
          <a:bodyPr/>
          <a:lstStyle/>
          <a:p>
            <a:r>
              <a:rPr lang="nl-BE" sz="2800" noProof="0" dirty="0"/>
              <a:t>Oorzaken</a:t>
            </a:r>
            <a:r>
              <a:rPr lang="nl-BE" noProof="0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22C58-20BA-2A0F-1676-B30F1B54D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1847851"/>
          </a:xfrm>
        </p:spPr>
        <p:txBody>
          <a:bodyPr>
            <a:normAutofit/>
          </a:bodyPr>
          <a:lstStyle/>
          <a:p>
            <a:r>
              <a:rPr lang="nl-BE" sz="2000" noProof="0" dirty="0"/>
              <a:t>Spinnenwebben, insecten </a:t>
            </a:r>
          </a:p>
          <a:p>
            <a:r>
              <a:rPr lang="nl-BE" sz="2000" noProof="0" dirty="0"/>
              <a:t>Condens </a:t>
            </a:r>
          </a:p>
          <a:p>
            <a:r>
              <a:rPr lang="nl-BE" sz="2000" noProof="0" dirty="0"/>
              <a:t>Geluid van regen een metalen deksel</a:t>
            </a:r>
          </a:p>
          <a:p>
            <a:r>
              <a:rPr lang="nl-BE" sz="2000" noProof="0" dirty="0"/>
              <a:t>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74FFC-F040-63CB-B595-3D79A3D5F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269207"/>
            <a:ext cx="5183188" cy="823912"/>
          </a:xfrm>
        </p:spPr>
        <p:txBody>
          <a:bodyPr>
            <a:normAutofit/>
          </a:bodyPr>
          <a:lstStyle/>
          <a:p>
            <a:r>
              <a:rPr lang="nl-BE" sz="2800" noProof="0" dirty="0"/>
              <a:t>Gevolgen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57396-F73A-D982-739B-CB2209AC9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1847851"/>
          </a:xfrm>
        </p:spPr>
        <p:txBody>
          <a:bodyPr>
            <a:normAutofit/>
          </a:bodyPr>
          <a:lstStyle/>
          <a:p>
            <a:r>
              <a:rPr lang="nl-BE" sz="2000" noProof="0" dirty="0"/>
              <a:t>Valse alarmmeldingen</a:t>
            </a:r>
          </a:p>
          <a:p>
            <a:r>
              <a:rPr lang="nl-BE" sz="2000" noProof="0" dirty="0"/>
              <a:t>Spikes in de grafieken </a:t>
            </a:r>
          </a:p>
          <a:p>
            <a:r>
              <a:rPr lang="nl-BE" sz="2000" noProof="0" dirty="0"/>
              <a:t>Maakt data-analyse moeilijk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9B166-2C83-0EAE-8E40-180E6D36EB4C}"/>
              </a:ext>
            </a:extLst>
          </p:cNvPr>
          <p:cNvSpPr txBox="1"/>
          <p:nvPr/>
        </p:nvSpPr>
        <p:spPr>
          <a:xfrm>
            <a:off x="839788" y="4880907"/>
            <a:ext cx="8913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noProof="0" dirty="0"/>
              <a:t>Sommige stijgingen en dalingen zijn wel correct</a:t>
            </a:r>
            <a:r>
              <a:rPr lang="nl-BE" sz="2000" dirty="0"/>
              <a:t>, belangrijk om geen verkeerde waardes te markeren.</a:t>
            </a:r>
            <a:endParaRPr lang="nl-BE" sz="2000" noProof="0" dirty="0"/>
          </a:p>
        </p:txBody>
      </p:sp>
    </p:spTree>
    <p:extLst>
      <p:ext uri="{BB962C8B-B14F-4D97-AF65-F5344CB8AC3E}">
        <p14:creationId xmlns:p14="http://schemas.microsoft.com/office/powerpoint/2010/main" val="114510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44B49-269F-3DA7-331D-0133DB4A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>
                <a:solidFill>
                  <a:schemeClr val="tx1"/>
                </a:solidFill>
              </a:rPr>
              <a:t>De opdracht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00E6B-2AD2-E098-55A9-653874E1F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533131"/>
          </a:xfrm>
        </p:spPr>
        <p:txBody>
          <a:bodyPr>
            <a:normAutofit fontScale="92500" lnSpcReduction="20000"/>
          </a:bodyPr>
          <a:lstStyle/>
          <a:p>
            <a:r>
              <a:rPr lang="nl-BE" sz="2000" noProof="0" dirty="0">
                <a:solidFill>
                  <a:schemeClr val="tx1"/>
                </a:solidFill>
              </a:rPr>
              <a:t>Automatisch detecteren en filteren van de </a:t>
            </a:r>
            <a:r>
              <a:rPr lang="nl-BE" sz="2000" noProof="0" dirty="0" err="1">
                <a:solidFill>
                  <a:schemeClr val="tx1"/>
                </a:solidFill>
              </a:rPr>
              <a:t>outliers</a:t>
            </a:r>
            <a:r>
              <a:rPr lang="nl-BE" sz="2000" noProof="0" dirty="0">
                <a:solidFill>
                  <a:schemeClr val="tx1"/>
                </a:solidFill>
              </a:rPr>
              <a:t>.</a:t>
            </a:r>
          </a:p>
          <a:p>
            <a:r>
              <a:rPr lang="nl-BE" sz="2000" noProof="0" dirty="0">
                <a:solidFill>
                  <a:schemeClr val="tx1"/>
                </a:solidFill>
              </a:rPr>
              <a:t>Andere gebeurtenissen zoals het plots vullen / leeglopen van een put.</a:t>
            </a:r>
          </a:p>
          <a:p>
            <a:pPr marL="0" indent="0">
              <a:buNone/>
            </a:pPr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 err="1">
                <a:solidFill>
                  <a:schemeClr val="tx1"/>
                </a:solidFill>
              </a:rPr>
              <a:t>Csv</a:t>
            </a:r>
            <a:r>
              <a:rPr lang="nl-BE" sz="2000" noProof="0" dirty="0">
                <a:solidFill>
                  <a:schemeClr val="tx1"/>
                </a:solidFill>
              </a:rPr>
              <a:t>-bestand met metingen van 4 sensoren: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>
                <a:solidFill>
                  <a:schemeClr val="tx1"/>
                </a:solidFill>
              </a:rPr>
              <a:t>A840415930000001 = bevat meerdere </a:t>
            </a:r>
            <a:r>
              <a:rPr lang="nl-BE" sz="1600" noProof="0" dirty="0" err="1">
                <a:solidFill>
                  <a:schemeClr val="tx1"/>
                </a:solidFill>
              </a:rPr>
              <a:t>outliers</a:t>
            </a:r>
            <a:r>
              <a:rPr lang="nl-BE" sz="1600" noProof="0" dirty="0">
                <a:solidFill>
                  <a:schemeClr val="tx1"/>
                </a:solidFill>
              </a:rPr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>
                <a:solidFill>
                  <a:schemeClr val="tx1"/>
                </a:solidFill>
              </a:rPr>
              <a:t>A840416891000002 = bevat geen </a:t>
            </a:r>
            <a:r>
              <a:rPr lang="nl-BE" sz="1600" noProof="0" dirty="0" err="1">
                <a:solidFill>
                  <a:schemeClr val="tx1"/>
                </a:solidFill>
              </a:rPr>
              <a:t>outliers</a:t>
            </a:r>
            <a:endParaRPr lang="nl-BE" sz="1600" noProof="0" dirty="0">
              <a:solidFill>
                <a:schemeClr val="tx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>
                <a:solidFill>
                  <a:schemeClr val="tx1"/>
                </a:solidFill>
              </a:rPr>
              <a:t>A8404142B1000003 = geen </a:t>
            </a:r>
            <a:r>
              <a:rPr lang="nl-BE" sz="1600" noProof="0" dirty="0" err="1">
                <a:solidFill>
                  <a:schemeClr val="tx1"/>
                </a:solidFill>
              </a:rPr>
              <a:t>outliers</a:t>
            </a:r>
            <a:r>
              <a:rPr lang="nl-BE" sz="1600" noProof="0" dirty="0">
                <a:solidFill>
                  <a:schemeClr val="tx1"/>
                </a:solidFill>
              </a:rPr>
              <a:t>, maar wel </a:t>
            </a:r>
            <a:r>
              <a:rPr lang="nl-BE" sz="1600" noProof="0" dirty="0" err="1">
                <a:solidFill>
                  <a:schemeClr val="tx1"/>
                </a:solidFill>
              </a:rPr>
              <a:t>circadisch</a:t>
            </a:r>
            <a:r>
              <a:rPr lang="nl-BE" sz="1600" noProof="0" dirty="0">
                <a:solidFill>
                  <a:schemeClr val="tx1"/>
                </a:solidFill>
              </a:rPr>
              <a:t> effect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>
                <a:solidFill>
                  <a:schemeClr val="tx1"/>
                </a:solidFill>
              </a:rPr>
              <a:t>A840417207000004 = hopeloos geval</a:t>
            </a:r>
          </a:p>
          <a:p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>
                <a:solidFill>
                  <a:schemeClr val="tx1"/>
                </a:solidFill>
              </a:rPr>
              <a:t>Nuttigste data: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>
                <a:solidFill>
                  <a:schemeClr val="tx1"/>
                </a:solidFill>
              </a:rPr>
              <a:t>Tags = welke sensor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>
                <a:solidFill>
                  <a:schemeClr val="tx1"/>
                </a:solidFill>
              </a:rPr>
              <a:t>Time = tijdstip van meeting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600" noProof="0" dirty="0" err="1">
                <a:solidFill>
                  <a:schemeClr val="tx1"/>
                </a:solidFill>
              </a:rPr>
              <a:t>Distance</a:t>
            </a:r>
            <a:r>
              <a:rPr lang="nl-BE" sz="1600" noProof="0" dirty="0">
                <a:solidFill>
                  <a:schemeClr val="tx1"/>
                </a:solidFill>
              </a:rPr>
              <a:t> = afstand in mm tussen sensor en wateroppervlak</a:t>
            </a:r>
          </a:p>
        </p:txBody>
      </p:sp>
    </p:spTree>
    <p:extLst>
      <p:ext uri="{BB962C8B-B14F-4D97-AF65-F5344CB8AC3E}">
        <p14:creationId xmlns:p14="http://schemas.microsoft.com/office/powerpoint/2010/main" val="3660776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5E5C-7F67-2613-056E-FFBFDCC8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Sensor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C46BFB-A974-52DD-8C8E-1221F5223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nl-BE" sz="2000" dirty="0">
                <a:solidFill>
                  <a:schemeClr val="tx1"/>
                </a:solidFill>
              </a:rPr>
              <a:t>Bevat meerdere </a:t>
            </a:r>
            <a:r>
              <a:rPr lang="nl-BE" sz="2000" dirty="0" err="1">
                <a:solidFill>
                  <a:schemeClr val="tx1"/>
                </a:solidFill>
              </a:rPr>
              <a:t>outliers</a:t>
            </a:r>
            <a:r>
              <a:rPr lang="nl-BE" sz="20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6BF2BC34-2A4C-496B-542A-2CD70258F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30168"/>
            <a:ext cx="12192000" cy="274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74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2FAC-2ED0-2FEC-E69F-7015C7B3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Sensor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2084-67C1-BFF3-5D8A-14183747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nl-BE" sz="2000" dirty="0">
                <a:solidFill>
                  <a:schemeClr val="tx1"/>
                </a:solidFill>
              </a:rPr>
              <a:t>Is clean, bevat geen </a:t>
            </a:r>
            <a:r>
              <a:rPr lang="nl-BE" sz="2000" dirty="0" err="1">
                <a:solidFill>
                  <a:schemeClr val="tx1"/>
                </a:solidFill>
              </a:rPr>
              <a:t>outliers</a:t>
            </a:r>
            <a:r>
              <a:rPr lang="nl-BE" sz="2000" dirty="0">
                <a:solidFill>
                  <a:schemeClr val="tx1"/>
                </a:solidFill>
              </a:rPr>
              <a:t>.</a:t>
            </a:r>
          </a:p>
          <a:p>
            <a:endParaRPr lang="nl-BE" sz="20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D7A78A2-DCDF-3E7E-DB47-38424CAF9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0643"/>
            <a:ext cx="12192000" cy="276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9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7E79-16B6-DE25-9C5B-F2A992C3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Sensor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7388F-91F2-711B-22D9-24DAF583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nl-BE" sz="2000" dirty="0">
                <a:solidFill>
                  <a:schemeClr val="tx1"/>
                </a:solidFill>
              </a:rPr>
              <a:t>Bevat geen </a:t>
            </a:r>
            <a:r>
              <a:rPr lang="nl-BE" sz="2000" dirty="0" err="1">
                <a:solidFill>
                  <a:schemeClr val="tx1"/>
                </a:solidFill>
              </a:rPr>
              <a:t>outliers</a:t>
            </a:r>
            <a:r>
              <a:rPr lang="nl-BE" sz="2000" dirty="0">
                <a:solidFill>
                  <a:schemeClr val="tx1"/>
                </a:solidFill>
              </a:rPr>
              <a:t>, maar wel </a:t>
            </a:r>
            <a:r>
              <a:rPr lang="nl-BE" sz="2000" dirty="0" err="1">
                <a:solidFill>
                  <a:schemeClr val="tx1"/>
                </a:solidFill>
              </a:rPr>
              <a:t>circadisch</a:t>
            </a:r>
            <a:r>
              <a:rPr lang="nl-BE" sz="2000" dirty="0">
                <a:solidFill>
                  <a:schemeClr val="tx1"/>
                </a:solidFill>
              </a:rPr>
              <a:t> effect.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8493CA0-0C1A-1FD2-77EC-901C592F5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2231"/>
            <a:ext cx="12192000" cy="275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93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FD83-CAEE-0148-CEDE-8906D319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Sensor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70B5F-B393-41CB-632F-65D058F97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nl-BE" sz="2000" dirty="0"/>
              <a:t>Hopeloos geval, correcte waarde wordt slechts sporadisch gemeten.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21434D6-C6F0-0C0D-9342-F3E645A59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8016"/>
            <a:ext cx="12192000" cy="275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39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1557-A055-9595-B772-0C893E81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>
                <a:solidFill>
                  <a:schemeClr val="tx1"/>
                </a:solidFill>
              </a:rPr>
              <a:t>Analyse</a:t>
            </a:r>
            <a:r>
              <a:rPr lang="nl-BE" noProof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DBCD9-0026-0932-28F1-DF48DC280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noProof="0" dirty="0">
                <a:solidFill>
                  <a:schemeClr val="tx1"/>
                </a:solidFill>
              </a:rPr>
              <a:t>Opstart van het project</a:t>
            </a:r>
          </a:p>
          <a:p>
            <a:pPr marL="0" indent="0">
              <a:buNone/>
            </a:pPr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>
                <a:solidFill>
                  <a:schemeClr val="tx1"/>
                </a:solidFill>
              </a:rPr>
              <a:t>Data in het </a:t>
            </a:r>
            <a:r>
              <a:rPr lang="nl-BE" sz="2000" noProof="0" dirty="0" err="1">
                <a:solidFill>
                  <a:schemeClr val="tx1"/>
                </a:solidFill>
              </a:rPr>
              <a:t>csv</a:t>
            </a:r>
            <a:r>
              <a:rPr lang="nl-BE" sz="2000" noProof="0" dirty="0">
                <a:solidFill>
                  <a:schemeClr val="tx1"/>
                </a:solidFill>
              </a:rPr>
              <a:t>-bestand begrijpen</a:t>
            </a:r>
          </a:p>
          <a:p>
            <a:pPr marL="0" indent="0">
              <a:buNone/>
            </a:pPr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>
                <a:solidFill>
                  <a:schemeClr val="tx1"/>
                </a:solidFill>
              </a:rPr>
              <a:t>Rolverdeling </a:t>
            </a:r>
          </a:p>
          <a:p>
            <a:pPr marL="0" indent="0">
              <a:buNone/>
            </a:pPr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>
                <a:solidFill>
                  <a:schemeClr val="tx1"/>
                </a:solidFill>
              </a:rPr>
              <a:t>Onderzoek naar mogelijke methodes</a:t>
            </a:r>
          </a:p>
          <a:p>
            <a:endParaRPr lang="nl-BE" sz="2000" noProof="0" dirty="0"/>
          </a:p>
          <a:p>
            <a:endParaRPr lang="nl-BE" sz="2000" noProof="0" dirty="0"/>
          </a:p>
        </p:txBody>
      </p:sp>
    </p:spTree>
    <p:extLst>
      <p:ext uri="{BB962C8B-B14F-4D97-AF65-F5344CB8AC3E}">
        <p14:creationId xmlns:p14="http://schemas.microsoft.com/office/powerpoint/2010/main" val="1502168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D27B-8EC7-5E6D-532E-32B6CFAB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>
                <a:solidFill>
                  <a:schemeClr val="tx1"/>
                </a:solidFill>
              </a:rPr>
              <a:t>Opstart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8A4F-06EB-6833-3271-EFC53879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noProof="0" dirty="0" err="1">
                <a:solidFill>
                  <a:schemeClr val="tx1"/>
                </a:solidFill>
              </a:rPr>
              <a:t>Repository</a:t>
            </a:r>
            <a:r>
              <a:rPr lang="nl-BE" sz="2000" noProof="0" dirty="0">
                <a:solidFill>
                  <a:schemeClr val="tx1"/>
                </a:solidFill>
              </a:rPr>
              <a:t> in </a:t>
            </a:r>
            <a:r>
              <a:rPr lang="nl-BE" sz="2000" noProof="0" dirty="0" err="1">
                <a:solidFill>
                  <a:schemeClr val="tx1"/>
                </a:solidFill>
              </a:rPr>
              <a:t>Github</a:t>
            </a:r>
            <a:r>
              <a:rPr lang="nl-BE" sz="2000" noProof="0" dirty="0">
                <a:solidFill>
                  <a:schemeClr val="tx1"/>
                </a:solidFill>
              </a:rPr>
              <a:t> </a:t>
            </a:r>
          </a:p>
          <a:p>
            <a:endParaRPr lang="nl-BE" sz="2000" noProof="0" dirty="0">
              <a:solidFill>
                <a:schemeClr val="tx1"/>
              </a:solidFill>
            </a:endParaRPr>
          </a:p>
          <a:p>
            <a:r>
              <a:rPr lang="nl-BE" sz="2000" noProof="0" dirty="0">
                <a:solidFill>
                  <a:schemeClr val="tx1"/>
                </a:solidFill>
              </a:rPr>
              <a:t>Maken van verschillende branches</a:t>
            </a:r>
          </a:p>
          <a:p>
            <a:endParaRPr lang="en-US" sz="2000" noProof="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Console app </a:t>
            </a:r>
            <a:r>
              <a:rPr lang="en-US" sz="2000" dirty="0" err="1">
                <a:solidFill>
                  <a:schemeClr val="tx1"/>
                </a:solidFill>
              </a:rPr>
              <a:t>voor</a:t>
            </a:r>
            <a:r>
              <a:rPr lang="en-US" sz="2000" dirty="0">
                <a:solidFill>
                  <a:schemeClr val="tx1"/>
                </a:solidFill>
              </a:rPr>
              <a:t> csv-</a:t>
            </a:r>
            <a:r>
              <a:rPr lang="en-US" sz="2000" dirty="0" err="1">
                <a:solidFill>
                  <a:schemeClr val="tx1"/>
                </a:solidFill>
              </a:rPr>
              <a:t>bestand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uit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lezen</a:t>
            </a:r>
            <a:endParaRPr lang="nl-BE" sz="20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36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1EB9-20A1-192A-D535-6C5F6675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Console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73D6-6B0D-56BA-7231-3595706EDF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nl-BE" sz="2000" dirty="0" err="1">
                <a:solidFill>
                  <a:schemeClr val="tx1"/>
                </a:solidFill>
              </a:rPr>
              <a:t>Csvhelper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library</a:t>
            </a:r>
            <a:r>
              <a:rPr lang="nl-BE" sz="2000" dirty="0">
                <a:solidFill>
                  <a:schemeClr val="tx1"/>
                </a:solidFill>
              </a:rPr>
              <a:t> voor uitlezen 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tx1"/>
                </a:solidFill>
              </a:rPr>
              <a:t>(</a:t>
            </a:r>
            <a:r>
              <a:rPr lang="nl-BE" sz="2000" dirty="0" err="1">
                <a:solidFill>
                  <a:schemeClr val="tx1"/>
                </a:solidFill>
              </a:rPr>
              <a:t>dotnet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add</a:t>
            </a:r>
            <a:r>
              <a:rPr lang="nl-BE" sz="2000" dirty="0">
                <a:solidFill>
                  <a:schemeClr val="tx1"/>
                </a:solidFill>
              </a:rPr>
              <a:t> package </a:t>
            </a:r>
            <a:r>
              <a:rPr lang="nl-BE" sz="2000" dirty="0" err="1">
                <a:solidFill>
                  <a:schemeClr val="tx1"/>
                </a:solidFill>
              </a:rPr>
              <a:t>CsvHelper</a:t>
            </a:r>
            <a:r>
              <a:rPr lang="nl-BE" sz="20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nl-BE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2EEF8-8EE8-1BB9-A17B-B194AD6A3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001294"/>
            <a:ext cx="5181600" cy="1465441"/>
          </a:xfrm>
        </p:spPr>
        <p:txBody>
          <a:bodyPr>
            <a:normAutofit/>
          </a:bodyPr>
          <a:lstStyle/>
          <a:p>
            <a:r>
              <a:rPr lang="nl-BE" sz="2000" dirty="0" err="1">
                <a:solidFill>
                  <a:schemeClr val="tx1"/>
                </a:solidFill>
              </a:rPr>
              <a:t>SensorData</a:t>
            </a:r>
            <a:r>
              <a:rPr lang="nl-BE" sz="2000" dirty="0">
                <a:solidFill>
                  <a:schemeClr val="tx1"/>
                </a:solidFill>
              </a:rPr>
              <a:t> class aanmaken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BE" sz="1800" dirty="0">
                <a:solidFill>
                  <a:schemeClr val="tx1"/>
                </a:solidFill>
              </a:rPr>
              <a:t>Elke record in het </a:t>
            </a:r>
            <a:r>
              <a:rPr lang="nl-BE" sz="1800" dirty="0" err="1">
                <a:solidFill>
                  <a:schemeClr val="tx1"/>
                </a:solidFill>
              </a:rPr>
              <a:t>csv</a:t>
            </a:r>
            <a:r>
              <a:rPr lang="nl-BE" sz="1800" dirty="0">
                <a:solidFill>
                  <a:schemeClr val="tx1"/>
                </a:solidFill>
              </a:rPr>
              <a:t>-bestand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8620C9-86B0-4379-90D0-8561C720E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5782"/>
            <a:ext cx="5798456" cy="641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DA2CA6-2FDB-30E1-28A2-59B2ABDA6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018" y="245091"/>
            <a:ext cx="3996711" cy="636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61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8283A0-410D-1A2A-98DC-5CAA350CF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8" y="174205"/>
            <a:ext cx="7832801" cy="343082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0E9379-6B77-7553-D877-4C9A703FE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07555" y="2931536"/>
            <a:ext cx="5340417" cy="388143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7F304F-1F7D-0248-3AD2-E298EF01E8BB}"/>
              </a:ext>
            </a:extLst>
          </p:cNvPr>
          <p:cNvSpPr txBox="1"/>
          <p:nvPr/>
        </p:nvSpPr>
        <p:spPr>
          <a:xfrm>
            <a:off x="373625" y="3765755"/>
            <a:ext cx="419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Code voor records te tonen in console.</a:t>
            </a:r>
          </a:p>
        </p:txBody>
      </p:sp>
    </p:spTree>
    <p:extLst>
      <p:ext uri="{BB962C8B-B14F-4D97-AF65-F5344CB8AC3E}">
        <p14:creationId xmlns:p14="http://schemas.microsoft.com/office/powerpoint/2010/main" val="1528479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8682-536D-B4CF-A289-ECFB54DA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Rolling </a:t>
            </a:r>
            <a:r>
              <a:rPr lang="nl-BE" dirty="0" err="1">
                <a:solidFill>
                  <a:schemeClr val="tx1"/>
                </a:solidFill>
              </a:rPr>
              <a:t>z</a:t>
            </a:r>
            <a:r>
              <a:rPr lang="nl-BE" dirty="0">
                <a:solidFill>
                  <a:schemeClr val="tx1"/>
                </a:solidFill>
              </a:rPr>
              <a:t>-score methode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5ADDD-9635-04AB-6C0C-B955B6E6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sz="2000" dirty="0">
                <a:solidFill>
                  <a:schemeClr val="tx1"/>
                </a:solidFill>
              </a:rPr>
              <a:t>Manier om </a:t>
            </a:r>
            <a:r>
              <a:rPr lang="nl-BE" sz="2000" dirty="0" err="1">
                <a:solidFill>
                  <a:schemeClr val="tx1"/>
                </a:solidFill>
              </a:rPr>
              <a:t>z</a:t>
            </a:r>
            <a:r>
              <a:rPr lang="nl-BE" sz="2000" dirty="0">
                <a:solidFill>
                  <a:schemeClr val="tx1"/>
                </a:solidFill>
              </a:rPr>
              <a:t>-scores te berekenen op opeenvolgende stukjes v/e dataset</a:t>
            </a:r>
          </a:p>
          <a:p>
            <a:r>
              <a:rPr lang="nl-BE" sz="2000" dirty="0">
                <a:solidFill>
                  <a:schemeClr val="tx1"/>
                </a:solidFill>
              </a:rPr>
              <a:t>Globaal gem. is niet representatief </a:t>
            </a:r>
          </a:p>
          <a:p>
            <a:r>
              <a:rPr lang="nl-BE" sz="2000" dirty="0">
                <a:solidFill>
                  <a:schemeClr val="tx1"/>
                </a:solidFill>
              </a:rPr>
              <a:t>Berekent lokale </a:t>
            </a:r>
            <a:r>
              <a:rPr lang="nl-BE" sz="2000" dirty="0" err="1">
                <a:solidFill>
                  <a:schemeClr val="tx1"/>
                </a:solidFill>
              </a:rPr>
              <a:t>z</a:t>
            </a:r>
            <a:r>
              <a:rPr lang="nl-BE" sz="2000" dirty="0">
                <a:solidFill>
                  <a:schemeClr val="tx1"/>
                </a:solidFill>
              </a:rPr>
              <a:t>-score</a:t>
            </a:r>
          </a:p>
          <a:p>
            <a:endParaRPr lang="nl-BE" dirty="0">
              <a:solidFill>
                <a:schemeClr val="tx1"/>
              </a:solidFill>
            </a:endParaRPr>
          </a:p>
          <a:p>
            <a:endParaRPr lang="nl-BE" dirty="0">
              <a:solidFill>
                <a:schemeClr val="tx1"/>
              </a:solidFill>
            </a:endParaRPr>
          </a:p>
          <a:p>
            <a:r>
              <a:rPr lang="nl-BE" sz="2000" dirty="0">
                <a:solidFill>
                  <a:schemeClr val="tx1"/>
                </a:solidFill>
              </a:rPr>
              <a:t>X = waarde </a:t>
            </a:r>
          </a:p>
          <a:p>
            <a:r>
              <a:rPr lang="el-GR" sz="2000" dirty="0">
                <a:solidFill>
                  <a:schemeClr val="tx1"/>
                </a:solidFill>
              </a:rPr>
              <a:t>μ</a:t>
            </a: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dirty="0" err="1">
                <a:solidFill>
                  <a:schemeClr val="tx1"/>
                </a:solidFill>
              </a:rPr>
              <a:t>gemiddelde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l-GR" sz="2000" dirty="0">
                <a:solidFill>
                  <a:schemeClr val="tx1"/>
                </a:solidFill>
              </a:rPr>
              <a:t>σ</a:t>
            </a: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dirty="0" err="1">
                <a:solidFill>
                  <a:schemeClr val="tx1"/>
                </a:solidFill>
              </a:rPr>
              <a:t>standaardafwijking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Z = </a:t>
            </a:r>
            <a:r>
              <a:rPr lang="en-US" sz="2000" dirty="0" err="1">
                <a:solidFill>
                  <a:schemeClr val="tx1"/>
                </a:solidFill>
              </a:rPr>
              <a:t>aantal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l-GR" sz="2000" dirty="0">
                <a:solidFill>
                  <a:schemeClr val="tx1"/>
                </a:solidFill>
              </a:rPr>
              <a:t>σ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dat</a:t>
            </a:r>
            <a:r>
              <a:rPr lang="en-US" sz="2000" dirty="0">
                <a:solidFill>
                  <a:schemeClr val="tx1"/>
                </a:solidFill>
              </a:rPr>
              <a:t> x v/h </a:t>
            </a:r>
            <a:r>
              <a:rPr lang="en-US" sz="2000" dirty="0" err="1">
                <a:solidFill>
                  <a:schemeClr val="tx1"/>
                </a:solidFill>
              </a:rPr>
              <a:t>gemiddelde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ligt</a:t>
            </a:r>
            <a:endParaRPr lang="nl-BE" sz="2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A6DC9-854F-143D-BAC8-EF9DC8152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58" y="3111580"/>
            <a:ext cx="6480840" cy="2389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0ACA92-5D0E-C118-338F-369A7EC41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455" y="3796651"/>
            <a:ext cx="1705213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87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403404-0A94-4DCC-499C-ACF3223B7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204337"/>
            <a:ext cx="10974332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62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5961-A90F-7E3E-7D11-4A7FCE6D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Resultaat</a:t>
            </a:r>
            <a:r>
              <a:rPr lang="nl-BE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DD813C-73F6-7B5E-1971-FD26D864A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19051"/>
            <a:ext cx="11054615" cy="4829349"/>
          </a:xfrm>
        </p:spPr>
      </p:pic>
    </p:spTree>
    <p:extLst>
      <p:ext uri="{BB962C8B-B14F-4D97-AF65-F5344CB8AC3E}">
        <p14:creationId xmlns:p14="http://schemas.microsoft.com/office/powerpoint/2010/main" val="3834135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DCEF-67ED-42AB-62CB-81B4F362F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sz="4000" dirty="0" err="1">
                <a:solidFill>
                  <a:schemeClr val="tx1"/>
                </a:solidFill>
              </a:rPr>
              <a:t>Anomaly</a:t>
            </a:r>
            <a:r>
              <a:rPr lang="nl-BE" sz="4000" dirty="0">
                <a:solidFill>
                  <a:schemeClr val="tx1"/>
                </a:solidFill>
              </a:rPr>
              <a:t> </a:t>
            </a:r>
            <a:r>
              <a:rPr lang="nl-BE" sz="4000" dirty="0" err="1">
                <a:solidFill>
                  <a:schemeClr val="tx1"/>
                </a:solidFill>
              </a:rPr>
              <a:t>detection</a:t>
            </a:r>
            <a:r>
              <a:rPr lang="nl-BE" sz="4000" dirty="0">
                <a:solidFill>
                  <a:schemeClr val="tx1"/>
                </a:solidFill>
              </a:rPr>
              <a:t> met ML.NET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904BC-D067-57EF-3F49-4671020E2F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38683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C7EE-9251-2D19-FD9C-BF81E9C2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Wat is machine </a:t>
            </a:r>
            <a:r>
              <a:rPr lang="nl-BE" dirty="0" err="1">
                <a:solidFill>
                  <a:schemeClr val="tx1"/>
                </a:solidFill>
              </a:rPr>
              <a:t>learning</a:t>
            </a:r>
            <a:r>
              <a:rPr lang="nl-BE" dirty="0">
                <a:solidFill>
                  <a:schemeClr val="tx1"/>
                </a:solidFill>
              </a:rPr>
              <a:t> (ML)?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66E0D-39D2-A3AE-50D2-949FED91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tx1"/>
                </a:solidFill>
              </a:rPr>
              <a:t>Machine </a:t>
            </a:r>
            <a:r>
              <a:rPr lang="nl-NL" dirty="0" err="1">
                <a:solidFill>
                  <a:schemeClr val="tx1"/>
                </a:solidFill>
              </a:rPr>
              <a:t>learning</a:t>
            </a:r>
            <a:r>
              <a:rPr lang="nl-NL" dirty="0">
                <a:solidFill>
                  <a:schemeClr val="tx1"/>
                </a:solidFill>
              </a:rPr>
              <a:t> laat computers leren van data zonder expliciete instructies.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r>
              <a:rPr lang="nl-NL" dirty="0">
                <a:solidFill>
                  <a:schemeClr val="tx1"/>
                </a:solidFill>
              </a:rPr>
              <a:t>Het herkent automatisch patronen en afwijkingen.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2817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3E5E-145D-2C7E-7935-52C30E3F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Doel van ML in het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56E5-8FC5-B2EC-94A1-03C29999E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tx1"/>
                </a:solidFill>
              </a:rPr>
              <a:t>ML.NET gebruiken om </a:t>
            </a:r>
            <a:r>
              <a:rPr lang="nl-NL" dirty="0" err="1">
                <a:solidFill>
                  <a:schemeClr val="tx1"/>
                </a:solidFill>
              </a:rPr>
              <a:t>anomalies</a:t>
            </a:r>
            <a:r>
              <a:rPr lang="nl-NL" dirty="0">
                <a:solidFill>
                  <a:schemeClr val="tx1"/>
                </a:solidFill>
              </a:rPr>
              <a:t> te detecteren in sensormetingen van water.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  <a:p>
            <a:r>
              <a:rPr lang="nl-NL" dirty="0">
                <a:solidFill>
                  <a:schemeClr val="tx1"/>
                </a:solidFill>
              </a:rPr>
              <a:t>Data wordt geanalyseerd met </a:t>
            </a:r>
            <a:r>
              <a:rPr lang="nl-NL" dirty="0" err="1">
                <a:solidFill>
                  <a:schemeClr val="tx1"/>
                </a:solidFill>
              </a:rPr>
              <a:t>DetectSpikeBySsa</a:t>
            </a:r>
            <a:r>
              <a:rPr lang="nl-NL" dirty="0">
                <a:solidFill>
                  <a:schemeClr val="tx1"/>
                </a:solidFill>
              </a:rPr>
              <a:t> (SSA-methode).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10022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AAF9-3BAA-C159-9BFD-81ED1C2C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Belangrijkste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4A2CB-949B-87A6-8E9E-015CEC41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sz="2000" dirty="0"/>
          </a:p>
          <a:p>
            <a:r>
              <a:rPr lang="nl-BE" sz="2000" dirty="0" err="1">
                <a:solidFill>
                  <a:schemeClr val="tx1"/>
                </a:solidFill>
              </a:rPr>
              <a:t>outputColumnName</a:t>
            </a:r>
            <a:r>
              <a:rPr lang="nl-BE" sz="2000" dirty="0">
                <a:solidFill>
                  <a:schemeClr val="tx1"/>
                </a:solidFill>
              </a:rPr>
              <a:t>: Waar de resultaten komen (</a:t>
            </a:r>
            <a:r>
              <a:rPr lang="nl-BE" sz="2000" dirty="0" err="1">
                <a:solidFill>
                  <a:schemeClr val="tx1"/>
                </a:solidFill>
              </a:rPr>
              <a:t>Prediction</a:t>
            </a:r>
            <a:r>
              <a:rPr lang="nl-BE" sz="2000" dirty="0">
                <a:solidFill>
                  <a:schemeClr val="tx1"/>
                </a:solidFill>
              </a:rPr>
              <a:t> = 0 of 1).</a:t>
            </a:r>
          </a:p>
          <a:p>
            <a:r>
              <a:rPr lang="nl-BE" sz="2000" dirty="0" err="1">
                <a:solidFill>
                  <a:schemeClr val="tx1"/>
                </a:solidFill>
              </a:rPr>
              <a:t>inputColumnName</a:t>
            </a:r>
            <a:r>
              <a:rPr lang="nl-BE" sz="2000" dirty="0">
                <a:solidFill>
                  <a:schemeClr val="tx1"/>
                </a:solidFill>
              </a:rPr>
              <a:t>: Welke kolom wordt geanalyseerd (Value).</a:t>
            </a:r>
          </a:p>
          <a:p>
            <a:r>
              <a:rPr lang="nl-BE" sz="2000" dirty="0" err="1">
                <a:solidFill>
                  <a:schemeClr val="tx1"/>
                </a:solidFill>
              </a:rPr>
              <a:t>confidence</a:t>
            </a:r>
            <a:r>
              <a:rPr lang="nl-BE" sz="2000" dirty="0">
                <a:solidFill>
                  <a:schemeClr val="tx1"/>
                </a:solidFill>
              </a:rPr>
              <a:t>: Vertrouwensniveau (95%).</a:t>
            </a:r>
          </a:p>
          <a:p>
            <a:r>
              <a:rPr lang="nl-BE" sz="2000" dirty="0" err="1">
                <a:solidFill>
                  <a:schemeClr val="tx1"/>
                </a:solidFill>
              </a:rPr>
              <a:t>pvalueHistoryLength</a:t>
            </a:r>
            <a:r>
              <a:rPr lang="nl-BE" sz="2000" dirty="0">
                <a:solidFill>
                  <a:schemeClr val="tx1"/>
                </a:solidFill>
              </a:rPr>
              <a:t>: Hoeveel eerdere punten gebruikt worden.</a:t>
            </a:r>
          </a:p>
          <a:p>
            <a:r>
              <a:rPr lang="nl-BE" sz="2000" dirty="0" err="1">
                <a:solidFill>
                  <a:schemeClr val="tx1"/>
                </a:solidFill>
              </a:rPr>
              <a:t>trainingWindowSize</a:t>
            </a:r>
            <a:r>
              <a:rPr lang="nl-BE" sz="2000" dirty="0">
                <a:solidFill>
                  <a:schemeClr val="tx1"/>
                </a:solidFill>
              </a:rPr>
              <a:t>: Hoeveel data gebruiken om te trainen.</a:t>
            </a:r>
          </a:p>
          <a:p>
            <a:r>
              <a:rPr lang="nl-BE" sz="2000" dirty="0" err="1">
                <a:solidFill>
                  <a:schemeClr val="tx1"/>
                </a:solidFill>
              </a:rPr>
              <a:t>seasonalityWindowSize</a:t>
            </a:r>
            <a:r>
              <a:rPr lang="nl-BE" sz="2000" dirty="0">
                <a:solidFill>
                  <a:schemeClr val="tx1"/>
                </a:solidFill>
              </a:rPr>
              <a:t>: Lengte van één cyclus (bv. 48).</a:t>
            </a:r>
          </a:p>
          <a:p>
            <a:endParaRPr lang="nl-BE" dirty="0"/>
          </a:p>
          <a:p>
            <a:endParaRPr lang="nl-BE" dirty="0"/>
          </a:p>
        </p:txBody>
      </p:sp>
      <p:pic>
        <p:nvPicPr>
          <p:cNvPr id="5" name="Afbeelding 13">
            <a:extLst>
              <a:ext uri="{FF2B5EF4-FFF2-40B4-BE49-F238E27FC236}">
                <a16:creationId xmlns:a16="http://schemas.microsoft.com/office/drawing/2014/main" id="{772FDF03-CB96-13FF-95B8-32B7A578C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1919"/>
            <a:ext cx="6201640" cy="392330"/>
          </a:xfrm>
          <a:prstGeom prst="rect">
            <a:avLst/>
          </a:prstGeom>
        </p:spPr>
      </p:pic>
      <p:pic>
        <p:nvPicPr>
          <p:cNvPr id="6" name="Afbeelding 10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58B16B67-41AA-9239-9624-B2CAE9571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89" y="5226081"/>
            <a:ext cx="620164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08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D63E-C899-56C8-CD53-C92441CC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7713"/>
          </a:xfrm>
        </p:spPr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C33E-62A3-ECF6-6C3A-DCE9A66A4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2838"/>
            <a:ext cx="5181600" cy="4351338"/>
          </a:xfrm>
        </p:spPr>
        <p:txBody>
          <a:bodyPr/>
          <a:lstStyle/>
          <a:p>
            <a:r>
              <a:rPr lang="nl-BE" sz="2000" dirty="0">
                <a:solidFill>
                  <a:schemeClr val="tx1"/>
                </a:solidFill>
                <a:latin typeface="ui-monospace"/>
              </a:rPr>
              <a:t>Sensor 1</a:t>
            </a:r>
            <a:r>
              <a:rPr lang="nl-BE" sz="2000" b="0" i="0" dirty="0">
                <a:solidFill>
                  <a:schemeClr val="tx1"/>
                </a:solidFill>
                <a:effectLst/>
                <a:latin typeface="ui-monospace"/>
              </a:rPr>
              <a:t> </a:t>
            </a:r>
            <a:r>
              <a:rPr lang="nl-BE" sz="2000" dirty="0">
                <a:solidFill>
                  <a:schemeClr val="tx1"/>
                </a:solidFill>
              </a:rPr>
              <a:t>bevat </a:t>
            </a:r>
            <a:r>
              <a:rPr lang="nl-BE" sz="2000" dirty="0" err="1">
                <a:solidFill>
                  <a:schemeClr val="tx1"/>
                </a:solidFill>
              </a:rPr>
              <a:t>outliers</a:t>
            </a:r>
            <a:r>
              <a:rPr lang="nl-BE" sz="2000" dirty="0">
                <a:solidFill>
                  <a:schemeClr val="tx1"/>
                </a:solidFill>
              </a:rPr>
              <a:t>, maar toont ze niet allemaal.</a:t>
            </a:r>
            <a:endParaRPr lang="en-BE" sz="2000" dirty="0">
              <a:solidFill>
                <a:schemeClr val="tx1"/>
              </a:solidFill>
            </a:endParaRPr>
          </a:p>
          <a:p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8F6C9-A0FF-0B87-CC0D-9C4EB2CCF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29160"/>
            <a:ext cx="5181600" cy="4351338"/>
          </a:xfrm>
        </p:spPr>
        <p:txBody>
          <a:bodyPr/>
          <a:lstStyle/>
          <a:p>
            <a:r>
              <a:rPr lang="nl-BE" sz="2000" b="0" i="0" dirty="0">
                <a:solidFill>
                  <a:schemeClr val="tx1"/>
                </a:solidFill>
                <a:effectLst/>
                <a:latin typeface="ui-monospace"/>
              </a:rPr>
              <a:t>Sensor 3 met </a:t>
            </a:r>
            <a:r>
              <a:rPr lang="nl-BE" sz="2000" dirty="0" err="1">
                <a:solidFill>
                  <a:schemeClr val="tx1"/>
                </a:solidFill>
              </a:rPr>
              <a:t>circadisch</a:t>
            </a:r>
            <a:r>
              <a:rPr lang="nl-BE" sz="2000" dirty="0">
                <a:solidFill>
                  <a:schemeClr val="tx1"/>
                </a:solidFill>
              </a:rPr>
              <a:t> effect toont </a:t>
            </a:r>
            <a:r>
              <a:rPr lang="nl-BE" sz="2000" dirty="0" err="1">
                <a:solidFill>
                  <a:schemeClr val="tx1"/>
                </a:solidFill>
              </a:rPr>
              <a:t>outliers</a:t>
            </a:r>
            <a:r>
              <a:rPr lang="nl-BE" sz="2000" dirty="0">
                <a:solidFill>
                  <a:schemeClr val="tx1"/>
                </a:solidFill>
              </a:rPr>
              <a:t>, maar er mogen er geen zijn.</a:t>
            </a:r>
            <a:endParaRPr lang="en-BE" sz="2000" dirty="0">
              <a:solidFill>
                <a:schemeClr val="tx1"/>
              </a:solidFill>
            </a:endParaRPr>
          </a:p>
          <a:p>
            <a:endParaRPr lang="nl-BE" dirty="0"/>
          </a:p>
        </p:txBody>
      </p:sp>
      <p:pic>
        <p:nvPicPr>
          <p:cNvPr id="5" name="Afbeelding 10" descr="Afbeelding met tekst, schermopname, kleding, stof&#10;&#10;Door AI gegenereerde inhoud is mogelijk onjuist.">
            <a:extLst>
              <a:ext uri="{FF2B5EF4-FFF2-40B4-BE49-F238E27FC236}">
                <a16:creationId xmlns:a16="http://schemas.microsoft.com/office/drawing/2014/main" id="{FEEC250E-7870-85DF-24AC-A9CA1331F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97" y="2080160"/>
            <a:ext cx="3462602" cy="4711729"/>
          </a:xfrm>
          <a:prstGeom prst="rect">
            <a:avLst/>
          </a:prstGeom>
        </p:spPr>
      </p:pic>
      <p:pic>
        <p:nvPicPr>
          <p:cNvPr id="6" name="Afbeelding 12" descr="Afbeelding met tekst, schermopname, boek, zwart-wit&#10;&#10;Door AI gegenereerde inhoud is mogelijk onjuist.">
            <a:extLst>
              <a:ext uri="{FF2B5EF4-FFF2-40B4-BE49-F238E27FC236}">
                <a16:creationId xmlns:a16="http://schemas.microsoft.com/office/drawing/2014/main" id="{377220EF-EC9B-C889-5611-DD111865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699" y="2118301"/>
            <a:ext cx="3310202" cy="46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06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BC8C-41CC-853F-0221-06ECE722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Methode Tijl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CE71-6481-E44B-9A46-FF47F024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31444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C30D-EBAF-FAC4-E8C4-5E8F3911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Plots vullen/leeglopen van een put (Tijl)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CFB3-BCFA-A5DB-76EE-C7BF209DE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25635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298B-C45E-B3B4-4225-02784FA4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Openen in </a:t>
            </a:r>
            <a:r>
              <a:rPr lang="nl-BE" dirty="0" err="1">
                <a:solidFill>
                  <a:schemeClr val="tx1"/>
                </a:solidFill>
              </a:rPr>
              <a:t>excel</a:t>
            </a: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77BC9-C4F5-8257-09F9-0577A4A1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dirty="0" err="1">
                <a:solidFill>
                  <a:schemeClr val="tx1"/>
                </a:solidFill>
              </a:rPr>
              <a:t>Csv</a:t>
            </a:r>
            <a:r>
              <a:rPr lang="nl-BE" sz="2000" dirty="0">
                <a:solidFill>
                  <a:schemeClr val="tx1"/>
                </a:solidFill>
              </a:rPr>
              <a:t>-bestand updateten en openen in </a:t>
            </a:r>
            <a:r>
              <a:rPr lang="nl-BE" sz="2000" dirty="0" err="1">
                <a:solidFill>
                  <a:schemeClr val="tx1"/>
                </a:solidFill>
              </a:rPr>
              <a:t>excel</a:t>
            </a:r>
            <a:endParaRPr lang="nl-BE" sz="2000" dirty="0">
              <a:solidFill>
                <a:schemeClr val="tx1"/>
              </a:solidFill>
            </a:endParaRPr>
          </a:p>
          <a:p>
            <a:endParaRPr lang="nl-BE" sz="2000" dirty="0">
              <a:solidFill>
                <a:schemeClr val="tx1"/>
              </a:solidFill>
            </a:endParaRPr>
          </a:p>
          <a:p>
            <a:r>
              <a:rPr lang="nl-BE" sz="2000" dirty="0">
                <a:solidFill>
                  <a:schemeClr val="tx1"/>
                </a:solidFill>
              </a:rPr>
              <a:t>Nieuwe kolom toevoegen</a:t>
            </a:r>
          </a:p>
          <a:p>
            <a:endParaRPr lang="nl-BE" sz="2000" dirty="0">
              <a:solidFill>
                <a:schemeClr val="tx1"/>
              </a:solidFill>
            </a:endParaRPr>
          </a:p>
          <a:p>
            <a:endParaRPr lang="nl-BE" sz="2000" dirty="0">
              <a:solidFill>
                <a:schemeClr val="tx1"/>
              </a:solidFill>
            </a:endParaRPr>
          </a:p>
          <a:p>
            <a:r>
              <a:rPr lang="nl-BE" sz="2000" dirty="0">
                <a:solidFill>
                  <a:schemeClr val="tx1"/>
                </a:solidFill>
              </a:rPr>
              <a:t>Data toevoegen</a:t>
            </a:r>
          </a:p>
          <a:p>
            <a:endParaRPr lang="nl-BE" sz="2000" dirty="0"/>
          </a:p>
          <a:p>
            <a:endParaRPr lang="nl-BE" sz="2000" dirty="0"/>
          </a:p>
          <a:p>
            <a:endParaRPr lang="nl-B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96F3D-61D2-E471-3574-F9406204D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338" y="2701921"/>
            <a:ext cx="6514630" cy="1010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533D1-559D-695E-25E6-851D45CF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338" y="3844442"/>
            <a:ext cx="6514630" cy="181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46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AA2F-D939-B329-6C34-498F8DC8D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8484" y="986874"/>
            <a:ext cx="3219746" cy="488425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 err="1">
                <a:solidFill>
                  <a:schemeClr val="tx1"/>
                </a:solidFill>
              </a:rPr>
              <a:t>Csv</a:t>
            </a:r>
            <a:r>
              <a:rPr lang="nl-BE" sz="2000" dirty="0">
                <a:solidFill>
                  <a:schemeClr val="tx1"/>
                </a:solidFill>
              </a:rPr>
              <a:t> wordt overschreven met de nieuwe kolom.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>
                <a:solidFill>
                  <a:schemeClr val="tx1"/>
                </a:solidFill>
              </a:rPr>
              <a:t>EXCEL.EXE wordt gezocht.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>
                <a:solidFill>
                  <a:schemeClr val="tx1"/>
                </a:solidFill>
              </a:rPr>
              <a:t>Excel wordt geopend als het gevonden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8A1B3-A39B-8D38-3BAA-3B166BC2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641" y="461548"/>
            <a:ext cx="8068801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84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4BDFBD-2C05-7CB0-7EFC-48AC4A210030}"/>
              </a:ext>
            </a:extLst>
          </p:cNvPr>
          <p:cNvSpPr txBox="1"/>
          <p:nvPr/>
        </p:nvSpPr>
        <p:spPr>
          <a:xfrm>
            <a:off x="10912343" y="5043948"/>
            <a:ext cx="93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/>
              <a:t>outliers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F5EF76-2682-700A-51E8-19387CA3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39" y="218627"/>
            <a:ext cx="9850225" cy="642074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7995B5-9F5B-A175-EA32-47CAEF185FDC}"/>
              </a:ext>
            </a:extLst>
          </p:cNvPr>
          <p:cNvCxnSpPr>
            <a:cxnSpLocks/>
          </p:cNvCxnSpPr>
          <p:nvPr/>
        </p:nvCxnSpPr>
        <p:spPr>
          <a:xfrm flipH="1" flipV="1">
            <a:off x="10491019" y="4699819"/>
            <a:ext cx="890042" cy="34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057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C296-1084-03B1-773B-6C17BDA2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1016"/>
          </a:xfrm>
        </p:spPr>
        <p:txBody>
          <a:bodyPr>
            <a:normAutofit/>
          </a:bodyPr>
          <a:lstStyle/>
          <a:p>
            <a:pPr algn="ctr"/>
            <a:r>
              <a:rPr lang="nl-BE" sz="2800" dirty="0">
                <a:solidFill>
                  <a:schemeClr val="tx1"/>
                </a:solidFill>
              </a:rPr>
              <a:t>Resultaat in grafiek</a:t>
            </a:r>
          </a:p>
        </p:txBody>
      </p:sp>
      <p:pic>
        <p:nvPicPr>
          <p:cNvPr id="3" name="Picture 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3091921C-57E6-C627-4A1A-7DB4DC90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26" y="1581795"/>
            <a:ext cx="10699348" cy="491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ECDA-E8E6-8A1F-7369-C00BE0D8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tx1"/>
                </a:solidFill>
              </a:rPr>
              <a:t>Conclusie</a:t>
            </a:r>
            <a:r>
              <a:rPr lang="nl-BE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3EDA5-8723-95B0-7FF9-1F8E1831C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11321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B80F-EB31-CF6A-EC52-833F31EA99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3600" dirty="0">
                <a:solidFill>
                  <a:schemeClr val="tx1"/>
                </a:solidFill>
              </a:rPr>
              <a:t>Vragen?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F2115-5079-4F9B-B02D-7D07DCE41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65799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</TotalTime>
  <Words>524</Words>
  <Application>Microsoft Office PowerPoint</Application>
  <PresentationFormat>Widescreen</PresentationFormat>
  <Paragraphs>127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Courier New</vt:lpstr>
      <vt:lpstr>Trebuchet MS</vt:lpstr>
      <vt:lpstr>ui-monospace</vt:lpstr>
      <vt:lpstr>Wingdings</vt:lpstr>
      <vt:lpstr>Wingdings 3</vt:lpstr>
      <vt:lpstr>Facet</vt:lpstr>
      <vt:lpstr>Organimmo</vt:lpstr>
      <vt:lpstr>Waarschuw</vt:lpstr>
      <vt:lpstr>Context</vt:lpstr>
      <vt:lpstr>Het probleem</vt:lpstr>
      <vt:lpstr>PowerPoint Presentation</vt:lpstr>
      <vt:lpstr>De opdracht</vt:lpstr>
      <vt:lpstr>Sensor 1</vt:lpstr>
      <vt:lpstr>Sensor 2</vt:lpstr>
      <vt:lpstr>Sensor 3</vt:lpstr>
      <vt:lpstr>Sensor 4</vt:lpstr>
      <vt:lpstr>Analyse </vt:lpstr>
      <vt:lpstr>Opstart project</vt:lpstr>
      <vt:lpstr>Console app</vt:lpstr>
      <vt:lpstr>PowerPoint Presentation</vt:lpstr>
      <vt:lpstr>Rolling z-score methode</vt:lpstr>
      <vt:lpstr>PowerPoint Presentation</vt:lpstr>
      <vt:lpstr>Resultaat </vt:lpstr>
      <vt:lpstr>Anomaly detection met ML.NET</vt:lpstr>
      <vt:lpstr>Wat is machine learning (ML)?</vt:lpstr>
      <vt:lpstr>Doel van ML in het project</vt:lpstr>
      <vt:lpstr>Belangrijkste parameters</vt:lpstr>
      <vt:lpstr>Resultaat</vt:lpstr>
      <vt:lpstr>Methode Tijl</vt:lpstr>
      <vt:lpstr>Plots vullen/leeglopen van een put (Tijl)</vt:lpstr>
      <vt:lpstr>Openen in excel</vt:lpstr>
      <vt:lpstr>PowerPoint Presentation</vt:lpstr>
      <vt:lpstr>PowerPoint Presentation</vt:lpstr>
      <vt:lpstr>Resultaat in grafiek</vt:lpstr>
      <vt:lpstr>Conclusie 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Iban Blondelle</dc:creator>
  <cp:lastModifiedBy>Iban Blondelle</cp:lastModifiedBy>
  <cp:revision>31</cp:revision>
  <dcterms:created xsi:type="dcterms:W3CDTF">2025-06-12T09:19:21Z</dcterms:created>
  <dcterms:modified xsi:type="dcterms:W3CDTF">2025-06-12T15:13:56Z</dcterms:modified>
</cp:coreProperties>
</file>